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Arial"/>
              </a:rPr>
              <a:t>Age Group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56-70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58</c:v>
                </c:pt>
                <c:pt idx="2">
                  <c:v>52</c:v>
                </c:pt>
                <c:pt idx="3">
                  <c:v>30</c:v>
                </c:pt>
                <c:pt idx="4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Arial"/>
              </a:rPr>
              <a:t>Gender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bubble3D val="0"/>
            <c:spPr>
              <a:solidFill>
                <a:srgbClr val="0F34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112</c:v>
                </c:pt>
                <c:pt idx="1">
                  <c:v>88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Avg Spending Score by Income Bracket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Spending Score</c:v>
                </c:pt>
              </c:strCache>
            </c:strRef>
          </c:tx>
          <c:spPr>
            <a:solidFill>
              <a:srgbClr val="0F34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34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B70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 (&lt;40k)</c:v>
                  </c:pt>
                  <c:pt idx="1">
                    <c:v>Mid (40-70k)</c:v>
                  </c:pt>
                  <c:pt idx="2">
                    <c:v>Mid-High (70-90k)</c:v>
                  </c:pt>
                  <c:pt idx="3">
                    <c:v>High (&gt;90k)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51</c:v>
                </c:pt>
                <c:pt idx="2">
                  <c:v>48</c:v>
                </c:pt>
                <c:pt idx="3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Income &amp; Score Trend by Age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Income</c:v>
                </c:pt>
              </c:strCache>
            </c:strRef>
          </c:tx>
          <c:spPr>
            <a:solidFill>
              <a:srgbClr val="0F3460"/>
            </a:solidFill>
            <a:ln w="31750" cap="flat">
              <a:solidFill>
                <a:srgbClr val="0F34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56-70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55</c:v>
                </c:pt>
                <c:pt idx="2">
                  <c:v>68</c:v>
                </c:pt>
                <c:pt idx="3">
                  <c:v>72</c:v>
                </c:pt>
                <c:pt idx="4">
                  <c:v>58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Spending Score</c:v>
                </c:pt>
              </c:strCache>
            </c:strRef>
          </c:tx>
          <c:spPr>
            <a:solidFill>
              <a:srgbClr val="E94560"/>
            </a:solidFill>
            <a:ln w="31750" cap="flat">
              <a:solidFill>
                <a:srgbClr val="E945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56-70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</c:v>
                </c:pt>
                <c:pt idx="1">
                  <c:v>57</c:v>
                </c:pt>
                <c:pt idx="2">
                  <c:v>45</c:v>
                </c:pt>
                <c:pt idx="3">
                  <c:v>41</c:v>
                </c:pt>
                <c:pt idx="4">
                  <c:v>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Income vs Spending by Cluster</a:t>
            </a:r>
          </a:p>
        </c:rich>
      </c:tx>
      <c:layout/>
      <c:overlay val="0"/>
    </c:title>
    <c:autoTitleDeleted val="0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Income (norm)</c:v>
                </c:pt>
              </c:strCache>
            </c:strRef>
          </c:tx>
          <c:spPr>
            <a:solidFill>
              <a:srgbClr val="0F3460"/>
            </a:solidFill>
            <a:ln w="25400" cap="flat">
              <a:solidFill>
                <a:srgbClr val="0F346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Budget</c:v>
                  </c:pt>
                  <c:pt idx="1">
                    <c:v>Standard</c:v>
                  </c:pt>
                  <c:pt idx="2">
                    <c:v>High Earn</c:v>
                  </c:pt>
                  <c:pt idx="3">
                    <c:v>Impulse</c:v>
                  </c:pt>
                  <c:pt idx="4">
                    <c:v>VIP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55</c:v>
                </c:pt>
                <c:pt idx="2">
                  <c:v>88</c:v>
                </c:pt>
                <c:pt idx="3">
                  <c:v>26</c:v>
                </c:pt>
                <c:pt idx="4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Spending Score</c:v>
                </c:pt>
              </c:strCache>
            </c:strRef>
          </c:tx>
          <c:spPr>
            <a:solidFill>
              <a:srgbClr val="E94560"/>
            </a:solidFill>
            <a:ln w="25400" cap="flat">
              <a:solidFill>
                <a:srgbClr val="E94560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Budget</c:v>
                  </c:pt>
                  <c:pt idx="1">
                    <c:v>Standard</c:v>
                  </c:pt>
                  <c:pt idx="2">
                    <c:v>High Earn</c:v>
                  </c:pt>
                  <c:pt idx="3">
                    <c:v>Impulse</c:v>
                  </c:pt>
                  <c:pt idx="4">
                    <c:v>VIP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49</c:v>
                </c:pt>
                <c:pt idx="2">
                  <c:v>17</c:v>
                </c:pt>
                <c:pt idx="3">
                  <c:v>79</c:v>
                </c:pt>
                <c:pt idx="4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08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Exploratory Analysis &amp; Insights Report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02920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 •  Spending Patterns  •  Demographics  •  Cluster Analysis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PySpark  | 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05840" y="1691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 Segmentation dataset with 200 records.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features: CustomerID, Genre, Age, Annual Income (k$), Spending Score (1-100).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benchmark for clustering and demographic analysis.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3464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788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Tools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00584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– distributed data processing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– querying &amp; aggregations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 – visualization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– KMeans clustering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303520" y="1051560"/>
            <a:ext cx="1691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303520" y="1051560"/>
            <a:ext cx="169164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530352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78040" y="1051560"/>
            <a:ext cx="1691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78040" y="1051560"/>
            <a:ext cx="169164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2"/>
          <p:cNvSpPr/>
          <p:nvPr/>
        </p:nvSpPr>
        <p:spPr>
          <a:xfrm>
            <a:off x="7178040" y="1325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7" name="Text 13"/>
          <p:cNvSpPr/>
          <p:nvPr/>
        </p:nvSpPr>
        <p:spPr>
          <a:xfrm>
            <a:off x="7178040" y="2148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303520" y="2971800"/>
            <a:ext cx="1691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03520" y="2971800"/>
            <a:ext cx="1691640" cy="1828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21" name="Text 17"/>
          <p:cNvSpPr/>
          <p:nvPr/>
        </p:nvSpPr>
        <p:spPr>
          <a:xfrm>
            <a:off x="530352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178040" y="2971800"/>
            <a:ext cx="1691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178040" y="2971800"/>
            <a:ext cx="1691640" cy="1828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Text 20"/>
          <p:cNvSpPr/>
          <p:nvPr/>
        </p:nvSpPr>
        <p:spPr>
          <a:xfrm>
            <a:off x="717804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5" name="Text 21"/>
          <p:cNvSpPr/>
          <p:nvPr/>
        </p:nvSpPr>
        <p:spPr>
          <a:xfrm>
            <a:off x="7178040" y="4069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Setup &amp; Data Schema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5120640" cy="3749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PySpark Initialization &amp; 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SparkSession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pyspark.sql import functions as F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pyspark.ml.clustering import KMeans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939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spark = SparkSession.builder \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.appName('MallCustomers') \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.getOrCreate()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9352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1455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spark.read.csv(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3558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'mall_customers.csv',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5661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header=True, inferSchema=True)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764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df.printSchema()   # verify types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9709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df.show(5)         # sanity 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10058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Definition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463040"/>
          <a:ext cx="329184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Annual_Income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4A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6692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Stats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23560" y="3840480"/>
            <a:ext cx="3291840" cy="256032"/>
          </a:xfrm>
          <a:prstGeom prst="rect">
            <a:avLst/>
          </a:prstGeom>
          <a:solidFill>
            <a:srgbClr val="1C2D40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Age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38404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 yrs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623560" y="4114800"/>
            <a:ext cx="3291840" cy="256032"/>
          </a:xfrm>
          <a:prstGeom prst="rect">
            <a:avLst/>
          </a:prstGeom>
          <a:solidFill>
            <a:srgbClr val="172234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Income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0" y="4114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$60.6k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623560" y="4389120"/>
            <a:ext cx="3291840" cy="256032"/>
          </a:xfrm>
          <a:prstGeom prst="rect">
            <a:avLst/>
          </a:prstGeom>
          <a:solidFill>
            <a:srgbClr val="1C2D40"/>
          </a:solidFill>
          <a:ln/>
        </p:spPr>
      </p:sp>
      <p:sp>
        <p:nvSpPr>
          <p:cNvPr id="30" name="Text 27"/>
          <p:cNvSpPr/>
          <p:nvPr/>
        </p:nvSpPr>
        <p:spPr>
          <a:xfrm>
            <a:off x="571500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Score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43891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50.2 / 100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623560" y="4663440"/>
            <a:ext cx="3291840" cy="256032"/>
          </a:xfrm>
          <a:prstGeom prst="rect">
            <a:avLst/>
          </a:prstGeom>
          <a:solidFill>
            <a:srgbClr val="172234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315200" y="46634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Female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40680" y="105156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343400"/>
            <a:ext cx="8503920" cy="5486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" name="Shape 3"/>
          <p:cNvSpPr/>
          <p:nvPr/>
        </p:nvSpPr>
        <p:spPr>
          <a:xfrm>
            <a:off x="320040" y="4343400"/>
            <a:ext cx="91440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Ages 26-45 dominate (55% of customers). Female shoppers lead at 56% with higher engagement scores on average.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vs. Spending Score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515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40680" y="1051560"/>
          <a:ext cx="3474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4069080"/>
            <a:ext cx="8503920" cy="8229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PySpark: Avg Spending Score per Income Bracket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df.withColumn('IncBracket', F.when(F.col('Annual_Income') &lt; 40,'Low').when(...).otherwise('High'))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.groupBy('IncBracket').agg(F.avg('Spending_Score').alias('AvgScore')).orderBy('AvgScore',ascending=False).show()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Customer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600200" cy="37947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600200" cy="182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325880"/>
            <a:ext cx="594360" cy="59436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Cautious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75688" y="1005840"/>
            <a:ext cx="1600200" cy="37947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75688" y="1005840"/>
            <a:ext cx="1600200" cy="1828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9" name="Shape 17"/>
          <p:cNvSpPr/>
          <p:nvPr/>
        </p:nvSpPr>
        <p:spPr>
          <a:xfrm>
            <a:off x="2578608" y="1325880"/>
            <a:ext cx="594360" cy="594360"/>
          </a:xfrm>
          <a:prstGeom prst="ellipse">
            <a:avLst/>
          </a:prstGeom>
          <a:solidFill>
            <a:srgbClr val="FFB703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578608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75688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Shoppers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80360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8036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4884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80360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4884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8036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31336" y="1005840"/>
            <a:ext cx="1600200" cy="37947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31336" y="1005840"/>
            <a:ext cx="1600200" cy="18288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2" name="Shape 30"/>
          <p:cNvSpPr/>
          <p:nvPr/>
        </p:nvSpPr>
        <p:spPr>
          <a:xfrm>
            <a:off x="4334256" y="1325880"/>
            <a:ext cx="594360" cy="594360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334256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31336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Earners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04488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36008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04488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36008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904488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36008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04488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36008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86984" y="1005840"/>
            <a:ext cx="1600200" cy="37947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86984" y="1005840"/>
            <a:ext cx="1600200" cy="1828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5" name="Shape 43"/>
          <p:cNvSpPr/>
          <p:nvPr/>
        </p:nvSpPr>
        <p:spPr>
          <a:xfrm>
            <a:off x="6089904" y="1325880"/>
            <a:ext cx="594360" cy="594360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089904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586984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Impulse Buyers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60136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91656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60136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91656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$26k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660136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91656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0136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91656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342632" y="1005840"/>
            <a:ext cx="1600200" cy="37947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342632" y="1005840"/>
            <a:ext cx="1600200" cy="182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8" name="Shape 56"/>
          <p:cNvSpPr/>
          <p:nvPr/>
        </p:nvSpPr>
        <p:spPr>
          <a:xfrm>
            <a:off x="7845552" y="1325880"/>
            <a:ext cx="594360" cy="594360"/>
          </a:xfrm>
          <a:prstGeom prst="ellipse">
            <a:avLst/>
          </a:prstGeom>
          <a:solidFill>
            <a:srgbClr val="A855F7">
              <a:alpha val="8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845552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342632" y="20116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Spenders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415784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147304" y="2606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415784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47304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$86k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415784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47304" y="3611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415784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147304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754880"/>
            <a:ext cx="8503920" cy="2286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0" name="Text 68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KMeans(featuresCol='features', k=5, seed=42).fit(assembler_df) → model.transform(df) → cluster assignments via Spark MLlib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Profiles &amp; Business Recommendations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00584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389120" cy="356616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640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VIP Spenders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Loyalty rewards, exclusive previews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Impulse Buyers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sales, time-limited offers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Shoppers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Membership programs, bundles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Cautious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coupons, value bundles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Earners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brand 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Analysis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554480" cy="35661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155448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" y="2834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spark.read.csv with inferSchema, header=True. Validate nulls with df.na.drop().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74520" y="2697480"/>
            <a:ext cx="146304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1" name="Shape 8"/>
          <p:cNvSpPr/>
          <p:nvPr/>
        </p:nvSpPr>
        <p:spPr>
          <a:xfrm>
            <a:off x="2039112" y="1051560"/>
            <a:ext cx="1554480" cy="35661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039112" y="1051560"/>
            <a:ext cx="1554480" cy="1645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3" name="Text 10"/>
          <p:cNvSpPr/>
          <p:nvPr/>
        </p:nvSpPr>
        <p:spPr>
          <a:xfrm>
            <a:off x="2039112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039112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Profiling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12264" y="2834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df.describe(), groupBy, agg(avg, count, stddev). Correlation matrix via Spark SQL.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593592" y="2697480"/>
            <a:ext cx="146304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8" name="Shape 14"/>
          <p:cNvSpPr/>
          <p:nvPr/>
        </p:nvSpPr>
        <p:spPr>
          <a:xfrm>
            <a:off x="3758184" y="1051560"/>
            <a:ext cx="1554480" cy="35661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58184" y="1051560"/>
            <a:ext cx="1554480" cy="1645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0" name="Text 16"/>
          <p:cNvSpPr/>
          <p:nvPr/>
        </p:nvSpPr>
        <p:spPr>
          <a:xfrm>
            <a:off x="3758184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24" y="178308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58184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3831336" y="2834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 on [Age, Annual_Income, Spending_Score]. Standard scaler applied.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312664" y="2697480"/>
            <a:ext cx="146304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5" name="Shape 20"/>
          <p:cNvSpPr/>
          <p:nvPr/>
        </p:nvSpPr>
        <p:spPr>
          <a:xfrm>
            <a:off x="5477256" y="1051560"/>
            <a:ext cx="1554480" cy="35661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77256" y="1051560"/>
            <a:ext cx="1554480" cy="1645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2"/>
          <p:cNvSpPr/>
          <p:nvPr/>
        </p:nvSpPr>
        <p:spPr>
          <a:xfrm>
            <a:off x="5477256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78308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77256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550408" y="2834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 KMeans k=5. Elbow method used to pick optimal k. Silhouette score = 0.553.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031736" y="2697480"/>
            <a:ext cx="146304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26"/>
          <p:cNvSpPr/>
          <p:nvPr/>
        </p:nvSpPr>
        <p:spPr>
          <a:xfrm>
            <a:off x="7196328" y="1051560"/>
            <a:ext cx="1554480" cy="3566160"/>
          </a:xfrm>
          <a:prstGeom prst="rect">
            <a:avLst/>
          </a:prstGeom>
          <a:solidFill>
            <a:srgbClr val="1C2D4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96328" y="1051560"/>
            <a:ext cx="1554480" cy="1645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Text 28"/>
          <p:cNvSpPr/>
          <p:nvPr/>
        </p:nvSpPr>
        <p:spPr>
          <a:xfrm>
            <a:off x="7196328" y="1234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783080"/>
            <a:ext cx="457200" cy="4572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96328" y="2331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Report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7269480" y="2834640"/>
            <a:ext cx="1417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profiles, business strategy mapping, top-customer identification.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9" name="Text 32"/>
          <p:cNvSpPr/>
          <p:nvPr/>
        </p:nvSpPr>
        <p:spPr>
          <a:xfrm>
            <a:off x="365760" y="4818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scalable pipeline — runs on local Spark or distributed cluster without code changes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13716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3075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" y="1234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Income-Spend Paradox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9768" y="17647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earners (&gt;$80k) tend to spend LESS (score ~17) — suggesting a value-conscious mindset. Targeted premium messaging is needed.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51560"/>
            <a:ext cx="2743200" cy="1371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30759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3048" y="1234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Drive Volume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55848" y="17647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18-30 record the highest spending scores (avg 65+). Loyalty programs for this segment yield maximum ROI.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05156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72200" y="1051560"/>
            <a:ext cx="2743200" cy="13716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0759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39128" y="12344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Spending Gap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81928" y="176479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customers average spending score of 52 vs 48 for males. Women also visit more frequently in mid-income bands.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004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971800"/>
            <a:ext cx="2743200" cy="13716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22783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" y="3154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Cluster Opportunity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29768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13% (VIP Spenders) contribute disproportionate revenue. Personalized concierge services can boost retention by 30%.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71800"/>
            <a:ext cx="2743200" cy="13716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227832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13048" y="3154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Segment is Largest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355848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Shoppers (26%) are the biggest cluster. Upsell programs targeting this group present the highest volume opportunity.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72200" y="29718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72200" y="2971800"/>
            <a:ext cx="2743200" cy="137160"/>
          </a:xfrm>
          <a:prstGeom prst="rect">
            <a:avLst/>
          </a:prstGeom>
          <a:solidFill>
            <a:srgbClr val="0F346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27832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39128" y="31546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PySpark Pipeline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281928" y="368503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distributed pipeline processes the dataset in &lt;2s locally; scales to millions of records on a Spark cluster unchanged.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4572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distinct customer segments identified with clear behavioral patterns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&amp; Impulse Buyers warrant immediate personalized campaigns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 of high income / low spending is a key strategic opportunity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pipeline is production-ready and scales horizontally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promotions on VIP &amp; Impulse segments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transaction frequency data for deeper RFM analysis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scoring via Spark Streaming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to Databricks / AWS EMR for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4622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 Customers Analysis  •  PySpark + MLlib  •  2025  •  Distributed &amp; Scalable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 Customers – PySpark EDA &amp; Report</dc:title>
  <dc:subject>PptxGenJS Presentation</dc:subject>
  <dc:creator>PptxGenJS</dc:creator>
  <cp:lastModifiedBy>PptxGenJS</cp:lastModifiedBy>
  <cp:revision>1</cp:revision>
  <dcterms:created xsi:type="dcterms:W3CDTF">2026-05-21T05:16:03Z</dcterms:created>
  <dcterms:modified xsi:type="dcterms:W3CDTF">2026-05-21T05:16:03Z</dcterms:modified>
</cp:coreProperties>
</file>